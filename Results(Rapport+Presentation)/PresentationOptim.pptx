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736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92240" y="64008"/>
            <a:ext cx="2651760" cy="5079492"/>
          </a:xfrm>
          <a:prstGeom prst="rect">
            <a:avLst/>
          </a:prstGeom>
          <a:solidFill>
            <a:srgbClr val="172A23"/>
          </a:solidFill>
          <a:ln w="12700">
            <a:solidFill>
              <a:srgbClr val="172A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748272" y="64008"/>
            <a:ext cx="54864" cy="50794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DD4"/>
                </a:solidFill>
              </a:rPr>
              <a:t>Méthodes d'optimisation numériques — Master 1 EEA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58521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et optimisation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ascenseur électrique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457200" y="2523744"/>
            <a:ext cx="914400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DD4"/>
                </a:solidFill>
              </a:rPr>
              <a:t>Anis Deghal  |  Romain Cholière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540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BBA8"/>
                </a:solidFill>
              </a:rPr>
              <a:t>Université de Perpignan Via Domitia  —  2025–2026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67728" y="1645920"/>
            <a:ext cx="1554480" cy="1554480"/>
          </a:xfrm>
          <a:prstGeom prst="ellipse">
            <a:avLst/>
          </a:prstGeom>
          <a:solidFill>
            <a:srgbClr val="2D6A4F">
              <a:alpha val="85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859536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57200" cy="457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77824" y="7498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système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987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Machinerie réelle, paramètres, entrée/sortie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0" cy="228600"/>
          </a:xfrm>
          <a:prstGeom prst="line">
            <a:avLst/>
          </a:prstGeom>
          <a:noFill/>
          <a:ln w="12700">
            <a:solidFill>
              <a:srgbClr val="BCDCD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457200" cy="457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" y="1435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et simplification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1673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Schéma physique — Ordre 6 → Ordre 4 en 3 étapes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1874520"/>
            <a:ext cx="0" cy="228600"/>
          </a:xfrm>
          <a:prstGeom prst="line">
            <a:avLst/>
          </a:prstGeom>
          <a:noFill/>
          <a:ln w="12700">
            <a:solidFill>
              <a:srgbClr val="BCDCD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103120"/>
            <a:ext cx="45720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III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" y="21214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paramétrique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" y="2359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Placement de pôles, K, Kr, résultats simulation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560320"/>
            <a:ext cx="0" cy="228600"/>
          </a:xfrm>
          <a:prstGeom prst="line">
            <a:avLst/>
          </a:prstGeom>
          <a:noFill/>
          <a:ln w="12700">
            <a:solidFill>
              <a:srgbClr val="BCDCD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74320" y="2788920"/>
            <a:ext cx="457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743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IV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7824" y="28072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ITAE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7824" y="3044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patternsearch MADS → ωn = 7,44 rad/s (×7,4)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246120"/>
            <a:ext cx="0" cy="228600"/>
          </a:xfrm>
          <a:prstGeom prst="line">
            <a:avLst/>
          </a:prstGeom>
          <a:noFill/>
          <a:ln w="12700">
            <a:solidFill>
              <a:srgbClr val="BCDCD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74320" y="3474720"/>
            <a:ext cx="457200" cy="457200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743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7824" y="34930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robuste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7824" y="3730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GA exogène + patternsearch minimax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931920"/>
            <a:ext cx="0" cy="228600"/>
          </a:xfrm>
          <a:prstGeom prst="line">
            <a:avLst/>
          </a:prstGeom>
          <a:noFill/>
          <a:ln w="12700">
            <a:solidFill>
              <a:srgbClr val="BCDCD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274320" y="4160520"/>
            <a:ext cx="457200" cy="4572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743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VI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77824" y="41788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&amp; Conclusion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77824" y="4416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4 stratégies — choix selon le contexte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28016"/>
            <a:ext cx="530352" cy="530352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28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73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</a:rPr>
              <a:t>Présentation du système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521208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électromécanique industriel réel  ·  Modélisé d'après Nalbant &amp; Sezer (2019)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58952"/>
            <a:ext cx="859536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274320" y="322911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</a:rPr>
              <a:t>Salle de machinerie réelle — moteur MCC, réducteur, poulie et câbles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4160520" cy="22677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17720" y="886968"/>
            <a:ext cx="42519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617720" y="886968"/>
            <a:ext cx="4251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F"/>
                </a:solidFill>
              </a:rPr>
              <a:t>Paramètres numériques du système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45152" y="1225296"/>
            <a:ext cx="4206240" cy="246888"/>
          </a:xfrm>
          <a:prstGeom prst="rect">
            <a:avLst/>
          </a:prstGeom>
          <a:solidFill>
            <a:srgbClr val="EBF5F0"/>
          </a:solidFill>
          <a:ln w="12700">
            <a:solidFill>
              <a:srgbClr val="D8E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700016" y="124358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Résistance moteur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0" y="124358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06640" y="124358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5,65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39328" y="12435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Ω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45152" y="1499616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700016" y="151790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Inductance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0" y="151790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06640" y="151790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2,90×10⁻³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39328" y="15179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H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45152" y="1773936"/>
            <a:ext cx="4206240" cy="246888"/>
          </a:xfrm>
          <a:prstGeom prst="rect">
            <a:avLst/>
          </a:prstGeom>
          <a:solidFill>
            <a:srgbClr val="EBF5F0"/>
          </a:solidFill>
          <a:ln w="12700">
            <a:solidFill>
              <a:srgbClr val="D8E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700016" y="179222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Constante élec.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58000" y="179222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06640" y="179222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2,39×10⁻²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339328" y="179222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Nm/A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45152" y="2048256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700016" y="206654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Inertie rotor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58000" y="206654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406640" y="2066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0,481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339328" y="206654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kg·m²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45152" y="2322576"/>
            <a:ext cx="4206240" cy="246888"/>
          </a:xfrm>
          <a:prstGeom prst="rect">
            <a:avLst/>
          </a:prstGeom>
          <a:solidFill>
            <a:srgbClr val="EBF5F0"/>
          </a:solidFill>
          <a:ln w="12700">
            <a:solidFill>
              <a:srgbClr val="D8E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4700016" y="234086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Frottement moteur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858000" y="234086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B₁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406640" y="234086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980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339328" y="234086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Ns/m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645152" y="2596896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4700016" y="261518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Frottement linéaire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858000" y="261518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B_lin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406640" y="261518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339328" y="26151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Ns/m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645152" y="2871216"/>
            <a:ext cx="4206240" cy="246888"/>
          </a:xfrm>
          <a:prstGeom prst="rect">
            <a:avLst/>
          </a:prstGeom>
          <a:solidFill>
            <a:srgbClr val="EBF5F0"/>
          </a:solidFill>
          <a:ln w="12700">
            <a:solidFill>
              <a:srgbClr val="D8E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/>
          <p:cNvSpPr/>
          <p:nvPr/>
        </p:nvSpPr>
        <p:spPr>
          <a:xfrm>
            <a:off x="4700016" y="288950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Raideur câble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858000" y="288950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K₁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7406640" y="288950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145 000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339328" y="288950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N/m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645152" y="3145536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5"/>
          <p:cNvSpPr/>
          <p:nvPr/>
        </p:nvSpPr>
        <p:spPr>
          <a:xfrm>
            <a:off x="4700016" y="316382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Masse cabine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858000" y="316382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7406640" y="316382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8339328" y="316382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kg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645152" y="3419856"/>
            <a:ext cx="4206240" cy="246888"/>
          </a:xfrm>
          <a:prstGeom prst="rect">
            <a:avLst/>
          </a:prstGeom>
          <a:solidFill>
            <a:srgbClr val="EBF5F0"/>
          </a:solidFill>
          <a:ln w="12700">
            <a:solidFill>
              <a:srgbClr val="D8E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0"/>
          <p:cNvSpPr/>
          <p:nvPr/>
        </p:nvSpPr>
        <p:spPr>
          <a:xfrm>
            <a:off x="4700016" y="343814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Masse contrepoids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858000" y="343814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7406640" y="34381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8339328" y="343814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kg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645152" y="3694176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5"/>
          <p:cNvSpPr/>
          <p:nvPr/>
        </p:nvSpPr>
        <p:spPr>
          <a:xfrm>
            <a:off x="4700016" y="371246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Rapport réducteur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6858000" y="371246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n₁/n₂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7406640" y="371246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1430/190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8339328" y="371246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dirty="0"/>
              <a:t>Tr/min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645152" y="3968496"/>
            <a:ext cx="4206240" cy="246888"/>
          </a:xfrm>
          <a:prstGeom prst="rect">
            <a:avLst/>
          </a:prstGeom>
          <a:solidFill>
            <a:srgbClr val="EBF5F0"/>
          </a:solidFill>
          <a:ln w="12700">
            <a:solidFill>
              <a:srgbClr val="D8E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0"/>
          <p:cNvSpPr/>
          <p:nvPr/>
        </p:nvSpPr>
        <p:spPr>
          <a:xfrm>
            <a:off x="4700016" y="398678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Tension maximale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6858000" y="398678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Vmax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7406640" y="398678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8339328" y="39867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V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8" name="Shape 65"/>
          <p:cNvSpPr/>
          <p:nvPr/>
        </p:nvSpPr>
        <p:spPr>
          <a:xfrm>
            <a:off x="274320" y="4370832"/>
            <a:ext cx="73152" cy="384048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6"/>
          <p:cNvSpPr/>
          <p:nvPr/>
        </p:nvSpPr>
        <p:spPr>
          <a:xfrm>
            <a:off x="457200" y="4434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F"/>
                </a:solidFill>
              </a:rPr>
              <a:t>Entrée : u(t)=V(t) [V]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3474720" y="4434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221"/>
                </a:solidFill>
              </a:rPr>
              <a:t>Sortie : v_mc(t) [m/s]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6400800" y="44348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</a:rPr>
              <a:t>Perturbation : d = 4120 N</a:t>
            </a:r>
            <a:endParaRPr lang="en-US" sz="11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CC29914-13F9-719F-C0FC-109B92818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839490"/>
            <a:ext cx="4187952" cy="2378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28016"/>
            <a:ext cx="530352" cy="530352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28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73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</a:rPr>
              <a:t>Étude et simplification du modèle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521208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simplifications physiquement et mathématiquement justifiées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58952"/>
            <a:ext cx="859536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850392"/>
            <a:ext cx="2414016" cy="1737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615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74151"/>
                </a:solidFill>
              </a:rPr>
              <a:t>Schéma électromécanique — Nalbant &amp; Sezer (2019)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01568" y="850391"/>
            <a:ext cx="2743200" cy="1837941"/>
          </a:xfrm>
          <a:prstGeom prst="rect">
            <a:avLst/>
          </a:prstGeom>
          <a:solidFill>
            <a:srgbClr val="FFF9F4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401568" y="850392"/>
            <a:ext cx="2743200" cy="29260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401568" y="850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Ordre 6  (non linéaire)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74720" y="1188720"/>
            <a:ext cx="100584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474720" y="1188720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x₁=I_L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17136" y="1188720"/>
            <a:ext cx="1554480" cy="192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Courant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474720" y="1399032"/>
            <a:ext cx="100584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474720" y="1399032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x₂=ω_J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17136" y="1399032"/>
            <a:ext cx="1554480" cy="192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Vitesse rotor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474720" y="1609344"/>
            <a:ext cx="100584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474720" y="1609344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x₃=F_K1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17136" y="1609344"/>
            <a:ext cx="1554480" cy="192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Force câble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474720" y="1819656"/>
            <a:ext cx="100584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3474720" y="1819656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x₄=v_mc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17136" y="1819656"/>
            <a:ext cx="1554480" cy="192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Vitesse cabine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474720" y="2029968"/>
            <a:ext cx="1005840" cy="192024"/>
          </a:xfrm>
          <a:prstGeom prst="rect">
            <a:avLst/>
          </a:prstGeom>
          <a:solidFill>
            <a:srgbClr val="FF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3474720" y="2029968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x₅=F_K2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17136" y="2029968"/>
            <a:ext cx="1554480" cy="192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0000"/>
                </a:solidFill>
              </a:rPr>
              <a:t>Câble CP  ✗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474720" y="2240280"/>
            <a:ext cx="1005840" cy="192024"/>
          </a:xfrm>
          <a:prstGeom prst="rect">
            <a:avLst/>
          </a:prstGeom>
          <a:solidFill>
            <a:srgbClr val="FF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3474720" y="2240280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x₆=v_mp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17136" y="2240280"/>
            <a:ext cx="1554480" cy="192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0000"/>
                </a:solidFill>
              </a:rPr>
              <a:t>Vitesse CP  ✗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474720" y="249490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0000"/>
                </a:solidFill>
              </a:rPr>
              <a:t>B=β·sign(v)·|v| ← non linéaire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236208" y="1691640"/>
            <a:ext cx="457200" cy="0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6638544" y="16276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6A4F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144768" y="1417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</a:rPr>
              <a:t>3 étapes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949440" y="850392"/>
            <a:ext cx="1920240" cy="1682496"/>
          </a:xfrm>
          <a:prstGeom prst="rect">
            <a:avLst/>
          </a:prstGeom>
          <a:solidFill>
            <a:srgbClr val="F0F7EE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6949440" y="850392"/>
            <a:ext cx="1920240" cy="292608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6949440" y="850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Ordre 4  (linéaire)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022592" y="1188720"/>
            <a:ext cx="822960" cy="192024"/>
          </a:xfrm>
          <a:prstGeom prst="rect">
            <a:avLst/>
          </a:prstGeom>
          <a:solidFill>
            <a:srgbClr val="EBF5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7022592" y="1188720"/>
            <a:ext cx="822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x₁=I_L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863840" y="1188720"/>
            <a:ext cx="914400" cy="192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221"/>
                </a:solidFill>
              </a:rPr>
              <a:t>inchangé ✓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022592" y="1399032"/>
            <a:ext cx="822960" cy="192024"/>
          </a:xfrm>
          <a:prstGeom prst="rect">
            <a:avLst/>
          </a:prstGeom>
          <a:solidFill>
            <a:srgbClr val="EBF5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9"/>
          <p:cNvSpPr/>
          <p:nvPr/>
        </p:nvSpPr>
        <p:spPr>
          <a:xfrm>
            <a:off x="7022592" y="1399032"/>
            <a:ext cx="822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x₂=ω_J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863840" y="1399032"/>
            <a:ext cx="914400" cy="192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221"/>
                </a:solidFill>
              </a:rPr>
              <a:t>inchangé ✓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022592" y="1609344"/>
            <a:ext cx="822960" cy="192024"/>
          </a:xfrm>
          <a:prstGeom prst="rect">
            <a:avLst/>
          </a:prstGeom>
          <a:solidFill>
            <a:srgbClr val="EBF5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2"/>
          <p:cNvSpPr/>
          <p:nvPr/>
        </p:nvSpPr>
        <p:spPr>
          <a:xfrm>
            <a:off x="7022592" y="1609344"/>
            <a:ext cx="822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x₃=F_K1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863840" y="1609344"/>
            <a:ext cx="914400" cy="192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221"/>
                </a:solidFill>
              </a:rPr>
              <a:t>inchangé ✓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022592" y="1819656"/>
            <a:ext cx="822960" cy="192024"/>
          </a:xfrm>
          <a:prstGeom prst="rect">
            <a:avLst/>
          </a:prstGeom>
          <a:solidFill>
            <a:srgbClr val="EBF5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5"/>
          <p:cNvSpPr/>
          <p:nvPr/>
        </p:nvSpPr>
        <p:spPr>
          <a:xfrm>
            <a:off x="7022592" y="1819656"/>
            <a:ext cx="822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x₄=v_mc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863840" y="1819656"/>
            <a:ext cx="914400" cy="192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6221"/>
                </a:solidFill>
              </a:rPr>
              <a:t>B→B_lin ✓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022592" y="2450592"/>
            <a:ext cx="1783080" cy="2377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8"/>
          <p:cNvSpPr/>
          <p:nvPr/>
        </p:nvSpPr>
        <p:spPr>
          <a:xfrm>
            <a:off x="7022592" y="24505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x₅,x₆→d=4120 N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274320" y="2898648"/>
            <a:ext cx="2788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50"/>
          <p:cNvSpPr/>
          <p:nvPr/>
        </p:nvSpPr>
        <p:spPr>
          <a:xfrm>
            <a:off x="274320" y="2898648"/>
            <a:ext cx="2788920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1"/>
          <p:cNvSpPr/>
          <p:nvPr/>
        </p:nvSpPr>
        <p:spPr>
          <a:xfrm>
            <a:off x="274320" y="289864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①  Linéarisation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365760" y="3236976"/>
            <a:ext cx="2606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B(v)=β·sign(v)·|v|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→ B_lin=300 Ns/m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3246120" y="2898648"/>
            <a:ext cx="2788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7" name="Shape 54"/>
          <p:cNvSpPr/>
          <p:nvPr/>
        </p:nvSpPr>
        <p:spPr>
          <a:xfrm>
            <a:off x="3246120" y="2898648"/>
            <a:ext cx="2788920" cy="310896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5"/>
          <p:cNvSpPr/>
          <p:nvPr/>
        </p:nvSpPr>
        <p:spPr>
          <a:xfrm>
            <a:off x="3246120" y="289864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②  Quasi-statique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3337560" y="3236976"/>
            <a:ext cx="2606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K₁/K₂≈58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→ x₅ supprimé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6217920" y="2898648"/>
            <a:ext cx="2788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1" name="Shape 58"/>
          <p:cNvSpPr/>
          <p:nvPr/>
        </p:nvSpPr>
        <p:spPr>
          <a:xfrm>
            <a:off x="6217920" y="2898648"/>
            <a:ext cx="2788920" cy="310896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59"/>
          <p:cNvSpPr/>
          <p:nvPr/>
        </p:nvSpPr>
        <p:spPr>
          <a:xfrm>
            <a:off x="6217920" y="289864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③  Équilibre stat.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6309360" y="3236976"/>
            <a:ext cx="2606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dv_mp/dt≈0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→ x₆ supprimé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28016"/>
            <a:ext cx="530352" cy="53035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28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73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Commande paramétrique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F"/>
                </a:solidFill>
              </a:rPr>
              <a:t>Loi de commande 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786384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u(t)  =  Kr · r(t)  −  K · x(t)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278892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1389888"/>
            <a:ext cx="27889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F"/>
                </a:solidFill>
              </a:rPr>
              <a:t>Pôles désirés  (ωn=1, ζ=0,8)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1737360"/>
            <a:ext cx="566928" cy="29260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47472" y="17373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p₁,₂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1737360"/>
            <a:ext cx="124358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−0,8±0,6j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31136" y="1737360"/>
            <a:ext cx="74980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Dominants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157984"/>
            <a:ext cx="566928" cy="29260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47472" y="215798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976" y="2157984"/>
            <a:ext cx="124358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−6,0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31136" y="2157984"/>
            <a:ext cx="74980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Auxiliaire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578608"/>
            <a:ext cx="566928" cy="29260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47472" y="25786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0976" y="2578608"/>
            <a:ext cx="124358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−7,2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31136" y="2578608"/>
            <a:ext cx="74980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Auxiliaire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</a:rPr>
              <a:t>Kr = [C(A−BK)⁻¹B]⁻¹ = 5,98×10⁻⁷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1389888"/>
            <a:ext cx="283464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246120" y="1389888"/>
            <a:ext cx="28346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F"/>
                </a:solidFill>
              </a:rPr>
              <a:t>Gains K  (MATLAB place())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19272" y="1737360"/>
            <a:ext cx="621792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77640" y="1737360"/>
            <a:ext cx="20116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=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06240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−11,97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1737360"/>
            <a:ext cx="84124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Compensation résistive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19272" y="2157984"/>
            <a:ext cx="621792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77640" y="2157984"/>
            <a:ext cx="20116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=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0" y="2157984"/>
            <a:ext cx="914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720,56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2157984"/>
            <a:ext cx="84124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Levier dominant ★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19272" y="2578608"/>
            <a:ext cx="621792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k₃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77640" y="2578608"/>
            <a:ext cx="20116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=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06240" y="2578608"/>
            <a:ext cx="914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66360" y="2578608"/>
            <a:ext cx="84124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Quasi-nul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19272" y="2999232"/>
            <a:ext cx="621792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k₄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77640" y="2999232"/>
            <a:ext cx="20116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=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206240" y="2999232"/>
            <a:ext cx="914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0,046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66360" y="2999232"/>
            <a:ext cx="84124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Amortissement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19272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K=[−11,97  720,56  ≈0  0,046]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1389888"/>
            <a:ext cx="260604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263640" y="1389888"/>
            <a:ext cx="2606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F"/>
                </a:solidFill>
              </a:rPr>
              <a:t>Schéma Simulink</a:t>
            </a:r>
            <a:endParaRPr lang="en-US" sz="1200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737360"/>
            <a:ext cx="2377440" cy="105156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6263640" y="3035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</a:rPr>
              <a:t>Échelon→Kr→Σ→Modèle→K</a:t>
            </a:r>
            <a:endParaRPr lang="en-US" sz="1000" dirty="0"/>
          </a:p>
        </p:txBody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380" y="3630168"/>
            <a:ext cx="5349240" cy="1188720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274320" y="48554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74151"/>
                </a:solidFill>
              </a:rPr>
              <a:t>Vitesse cabine → converge vers 1 m/s (consigne) sans erreur statique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28016"/>
            <a:ext cx="530352" cy="53035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28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73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Résultats — commande paramétrique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78638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 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RiseTime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(10→90 %)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74980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011680" y="78638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4,10 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011680" y="13533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SettlingTime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(±5 %)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74980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749040" y="78638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76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1,47 %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749040" y="13533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Dépassement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(Overshoot)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74980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0" y="78638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V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86400" y="13533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Tension 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(régime perm.)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74980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223760" y="78638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76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223760" y="13533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Erreur statique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(Kr efficace)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1883664"/>
            <a:ext cx="1993392" cy="274320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18836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Tr&lt;5 s 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23160" y="1883664"/>
            <a:ext cx="1993392" cy="274320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423160" y="18836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OS&lt;5 % 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1883664"/>
            <a:ext cx="1993392" cy="274320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72000" y="18836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V&lt;500 V 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0840" y="1883664"/>
            <a:ext cx="1993392" cy="274320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720840" y="18836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Erreur=0 % ✓</a:t>
            </a:r>
            <a:endParaRPr lang="en-US" sz="12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0"/>
            <a:ext cx="5120640" cy="113385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2400" y="3371089"/>
            <a:ext cx="5288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</a:rPr>
              <a:t>Vitesse cabine → 1 m/s  (RiseTime=2,53 s à 90 %, consigne atteinte visuellement à ≈4 s = SettlingTime)</a:t>
            </a:r>
            <a:endParaRPr lang="en-US" sz="10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54552"/>
            <a:ext cx="4632960" cy="1043907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74320" y="4651249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</a:rPr>
              <a:t>Tension V(t) → 140 V en régime permanent  &lt;&lt;  500 V max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486400" y="2286000"/>
            <a:ext cx="338328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1"/>
          <p:cNvSpPr/>
          <p:nvPr/>
        </p:nvSpPr>
        <p:spPr>
          <a:xfrm>
            <a:off x="5486400" y="2286000"/>
            <a:ext cx="91440" cy="254203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5650992" y="23591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</a:rPr>
              <a:t>⚠ RiseTime ≠ SettlingTime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5650992" y="2688336"/>
            <a:ext cx="3154680" cy="20299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RiseTime = 2,53 s  →  10 % à 90 %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SettlingTime = 4,10 s  →  entrée dans ±5 %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Sur le scope la courbe semble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  'atteindre la consigne' à ≈4 s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  c'est le SettlingTime, pas le RiseTime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Tr = 4,10 s proche de 5 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  → marge d'optimisation disponible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749040" y="731520"/>
            <a:ext cx="1645920" cy="1645920"/>
          </a:xfrm>
          <a:prstGeom prst="ellipse">
            <a:avLst/>
          </a:prstGeom>
          <a:solidFill>
            <a:srgbClr val="1A5C3A">
              <a:alpha val="20000"/>
            </a:srgbClr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749040" y="7315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IV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57860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du suivi de consigne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DDD4"/>
                </a:solidFill>
              </a:rPr>
              <a:t>Critère ITAE  ·  patternsearch MADS  ·  5 contraintes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28016"/>
            <a:ext cx="530352" cy="530352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28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82296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d'optimisation — Critère ITAE + patternsearch MADS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5603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2560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F"/>
                </a:solidFill>
              </a:rPr>
              <a:t>Variables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1338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ωn ∈ [0,1 ; 10] rad/s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4081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 ∈ [0,5 ; 1,0]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17007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p₁,₂=−ζ·ωn±j·ωn·√(1−ζ²)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1920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p₃=−6·ωn  |  p₄=−7,2·ωn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" y="2212848"/>
            <a:ext cx="2331720" cy="2011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02336" y="22128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Point initial : ωn₀=1, ζ₀=0,8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7520" y="804672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017520" y="804672"/>
            <a:ext cx="2834640" cy="2743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017520" y="804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Critère ITAE (minimiser)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45536" y="11338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J(ωn,ζ) =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45536" y="14264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(1/N)·Σ tₖ·|y_ref−y|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45536" y="1737360"/>
            <a:ext cx="2606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74151"/>
                </a:solidFill>
              </a:rPr>
              <a:t>Pénalise l'erreur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374151"/>
                </a:solidFill>
              </a:rPr>
              <a:t>qui dure longtemps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374151"/>
                </a:solidFill>
              </a:rPr>
              <a:t>→ rapidité + précision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45536" y="2304288"/>
            <a:ext cx="2606040" cy="20116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145536" y="23042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Plus l'erreur persiste → plus elle coûte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804672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035040" y="804672"/>
            <a:ext cx="2834640" cy="27432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035040" y="804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patternsearch (MADS)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1133856"/>
            <a:ext cx="2651760" cy="11704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Partir de x₀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Tester voisins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Avancer vers meilleur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Réduire le pas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Stop si pas trop petit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2304288"/>
            <a:ext cx="2606040" cy="20116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126480" y="23042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Sans calcul de gradient 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2743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</a:rPr>
              <a:t>5 contraintes d'inégalité  (c ≤ 0 pour être satisfaites)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054096"/>
            <a:ext cx="1627632" cy="768096"/>
          </a:xfrm>
          <a:prstGeom prst="rect">
            <a:avLst/>
          </a:prstGeom>
          <a:solidFill>
            <a:srgbClr val="EBF5F0"/>
          </a:solidFill>
          <a:ln w="12700">
            <a:solidFill>
              <a:srgbClr val="C8DD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74320" y="30906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C3A"/>
                </a:solidFill>
              </a:rPr>
              <a:t>c₁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≤ 5 %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33832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</a:rPr>
              <a:t>Confort passagers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993392" y="3054096"/>
            <a:ext cx="16276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993392" y="30906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C3A"/>
                </a:solidFill>
              </a:rPr>
              <a:t>c₂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395728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≥ 0,5 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993392" y="33832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</a:rPr>
              <a:t>Évite surtensions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12464" y="3054096"/>
            <a:ext cx="1627632" cy="768096"/>
          </a:xfrm>
          <a:prstGeom prst="rect">
            <a:avLst/>
          </a:prstGeom>
          <a:solidFill>
            <a:srgbClr val="EBF5F0"/>
          </a:solidFill>
          <a:ln w="12700">
            <a:solidFill>
              <a:srgbClr val="C8DD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712464" y="30906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C3A"/>
                </a:solidFill>
              </a:rPr>
              <a:t>c₃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114800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≤ 5 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712464" y="33832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</a:rPr>
              <a:t>Ascenseur réactif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31536" y="3054096"/>
            <a:ext cx="16276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431536" y="30906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C3A"/>
                </a:solidFill>
              </a:rPr>
              <a:t>c₄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833872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 ≥ 0,6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31536" y="33832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</a:rPr>
              <a:t>Sans oscillations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50608" y="3054096"/>
            <a:ext cx="1627632" cy="768096"/>
          </a:xfrm>
          <a:prstGeom prst="rect">
            <a:avLst/>
          </a:prstGeom>
          <a:solidFill>
            <a:srgbClr val="EBF5F0"/>
          </a:solidFill>
          <a:ln w="12700">
            <a:solidFill>
              <a:srgbClr val="C8DD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7150608" y="30906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C3A"/>
                </a:solidFill>
              </a:rPr>
              <a:t>c₅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552944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ωn ≥ 0,5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150608" y="33832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</a:rPr>
              <a:t>Dynamique min.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28016"/>
            <a:ext cx="530352" cy="530352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28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82296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patternsearch trouve ωn* = 7,44 rad/s  →  ×7,4 plus rapide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91440" cy="62179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5488" y="8595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ωn* = 7,44 rad/s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8595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ζ* = 0,80  (inchangé)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896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6221"/>
                </a:solidFill>
              </a:rPr>
              <a:t>5/5 contraintes ✓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4983480" cy="2050695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Avant (ωn=1)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Après (ωn=7,44)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Amélioration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ωn (rad/s)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1,00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5C3A"/>
                          </a:solidFill>
                        </a:rPr>
                        <a:t>7,44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6221"/>
                          </a:solidFill>
                        </a:rPr>
                        <a:t>×7,4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Tr (s)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3,72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5C3A"/>
                          </a:solidFill>
                        </a:rPr>
                        <a:t>0,50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6221"/>
                          </a:solidFill>
                        </a:rPr>
                        <a:t>÷7,4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OS (%)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1,47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6221"/>
                          </a:solidFill>
                        </a:rPr>
                        <a:t>1,47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374151"/>
                          </a:solidFill>
                        </a:rPr>
                        <a:t>=  (ζ inchangé)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Contraintes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6221"/>
                          </a:solidFill>
                        </a:rPr>
                        <a:t>5/5 ✓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622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3822192"/>
            <a:ext cx="498348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274320" y="3822192"/>
            <a:ext cx="91440" cy="859536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75488" y="38953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221"/>
                </a:solidFill>
              </a:rPr>
              <a:t>patternsearch a identifié ωn comme seul levier d'action 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" y="4187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Augmenter ωn accélère la réponse SANS changer l'OS (car ζ inchangé).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Résultat trouvé automatiquement, sans aucun calcul de gradient.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99616"/>
            <a:ext cx="3749040" cy="24231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41330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74151"/>
                </a:solidFill>
              </a:rPr>
              <a:t>Bleu=avant (ωn=1, lent)  |  Vert=après (ωn=7,44, ×7,4 plus rapide)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749040" y="731520"/>
            <a:ext cx="1645920" cy="1645920"/>
          </a:xfrm>
          <a:prstGeom prst="ellipse">
            <a:avLst/>
          </a:prstGeom>
          <a:solidFill>
            <a:srgbClr val="276221">
              <a:alpha val="20000"/>
            </a:srgbClr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749040" y="7315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V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57860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robuste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DDD4"/>
                </a:solidFill>
              </a:rPr>
              <a:t>GA exogène  ·  patternsearch minimax  ·  Marge de gain Mg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28016"/>
            <a:ext cx="530352" cy="530352"/>
          </a:xfrm>
          <a:prstGeom prst="ellipse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28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82296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types de perturbations — Deux algorithmes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114800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① Perturbation exogène  →  GA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" y="1170432"/>
            <a:ext cx="3913632" cy="19933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: +0,5 V en entrée moteur à t = 5 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simule une variation brusque du réseau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: J_rob = erreur + pénalisations pondérées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(0,2·pen_Tr + 0,1·pen_OS + 0,1·pen_Mg)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: 60 individus, 100 générations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Bornes : ωn ∈ [5 ; 50] rad/s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20624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4206240" cy="310896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63440" y="804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② Perturbation endogène  →  Pattern minimax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91456" y="1170432"/>
            <a:ext cx="3986784" cy="19933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masse cabine mc : ±5, ±10, ±15, ±20 %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 scénarios de charge passagers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minimax 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0,6·max(scores) + 0,4·mean(scores)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pire cas  +  40 % performance moyenne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Bornes : ωn ∈ [0,5 ; 15] rad/s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346704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3346704"/>
            <a:ext cx="91440" cy="4572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</a:rPr>
              <a:t>Nouvelle contrainte 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34198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Marge de gain  Mg ≥ 6 dB  →  robustesse de stabilité face aux variations de gain en boucle ouverte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9502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Point initial commun 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950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ωn=0,50  ζ=0,60  →  Tr=11,07 s  OS=9,23 %  Mg=13,63 dB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09560" y="3950208"/>
            <a:ext cx="86868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909560" y="39502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c₁ ✗  c₂ ✗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28016"/>
            <a:ext cx="530352" cy="530352"/>
          </a:xfrm>
          <a:prstGeom prst="ellipse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28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82296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algorithmes convergent vers ωn = 4,57 rad/s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0233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02336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GA robuste exogène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1338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ωn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1133856"/>
            <a:ext cx="2286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4,57 rad/s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344168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1344168"/>
            <a:ext cx="2286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1554480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Tr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1554480"/>
            <a:ext cx="2286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0,71 s 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1764792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9264" y="1764792"/>
            <a:ext cx="2286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4,42 % 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1975104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Mg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" y="1975104"/>
            <a:ext cx="2286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15,19 dB 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804672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54880" y="804672"/>
            <a:ext cx="4114800" cy="274320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5488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patternsearch minimax endogène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1338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ωn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9824" y="1133856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4,57 rad/s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1344168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9824" y="1344168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1554480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Tr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9824" y="1554480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0,70 s 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1764792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9824" y="1764792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5,00 % ✓ (limite)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1975104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Mg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9824" y="1975104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14,98 dB 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23591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274320" y="2359152"/>
            <a:ext cx="91440" cy="38404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5488" y="2414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</a:rPr>
              <a:t>★  Les deux algorithmes convergent vers ωn = 4,57 rad/s — optimum robuste bien défini, indépendant de l'algorithme</a:t>
            </a:r>
            <a:endParaRPr lang="en-US" sz="13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324" y="2834640"/>
            <a:ext cx="1856232" cy="155448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274320" y="44439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74151"/>
                </a:solidFill>
              </a:rPr>
              <a:t>GA exo : perturbation +0,5 V à t=5 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374151"/>
                </a:solidFill>
              </a:rPr>
              <a:t>(erreur résiduelle 0,2 m/s attendue — pas d'intégrateur)</a:t>
            </a:r>
            <a:endParaRPr lang="en-US" sz="9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236" y="2834640"/>
            <a:ext cx="3035808" cy="155448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4617720" y="444398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74151"/>
                </a:solidFill>
              </a:rPr>
              <a:t>Non-robuste (gauche) vs Robuste (droite) — 9 scénarios de masse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28016"/>
            <a:ext cx="530352" cy="53035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28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82296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4 stratégies de commande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19659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Stratégie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ωn (rad/s)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 (s)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OS (%)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Mg (dB)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±20 % masse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Paramétrique initiale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1,00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4,10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76221"/>
                          </a:solidFill>
                        </a:rPr>
                        <a:t>1,48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</a:rPr>
                        <a:t>Non garanti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5C3A"/>
                          </a:solidFill>
                        </a:rPr>
                        <a:t>ITAE patternsearch ★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5C3A"/>
                          </a:solidFill>
                        </a:rPr>
                        <a:t>7,44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5C3A"/>
                          </a:solidFill>
                        </a:rPr>
                        <a:t>0,50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76221"/>
                          </a:solidFill>
                        </a:rPr>
                        <a:t>1,47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</a:rPr>
                        <a:t>Non garanti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 robuste exogène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4,57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76221"/>
                          </a:solidFill>
                        </a:rPr>
                        <a:t>0,71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76221"/>
                          </a:solidFill>
                        </a:rPr>
                        <a:t>4,42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6221"/>
                          </a:solidFill>
                        </a:rPr>
                        <a:t>15,19 ✓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6221"/>
                          </a:solidFill>
                        </a:rPr>
                        <a:t>Garanti ✓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Pattern minimax endo.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4,57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76221"/>
                          </a:solidFill>
                        </a:rPr>
                        <a:t>0,70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76221"/>
                          </a:solidFill>
                        </a:rPr>
                        <a:t>5,00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6221"/>
                          </a:solidFill>
                        </a:rPr>
                        <a:t>14,98 ✓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6221"/>
                          </a:solidFill>
                        </a:rPr>
                        <a:t>Garanti ✓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2944368"/>
            <a:ext cx="27249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274320" y="2944368"/>
            <a:ext cx="2724912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274320" y="294436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 nominale max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291840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ITAE patternsearch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ωn=7,44  →  Tr=0,50 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82112" y="2944368"/>
            <a:ext cx="27249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182112" y="2944368"/>
            <a:ext cx="2724912" cy="310896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11"/>
          <p:cNvSpPr/>
          <p:nvPr/>
        </p:nvSpPr>
        <p:spPr>
          <a:xfrm>
            <a:off x="3182112" y="294436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Robustesse exogène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73552" y="3291840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GA robuste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Mg=15,19 dB, rejet +0,5 V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9904" y="2944368"/>
            <a:ext cx="27249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E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089904" y="2944368"/>
            <a:ext cx="2724912" cy="310896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089904" y="294436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Robustesse endogène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181344" y="3291840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Pattern minimax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±20 % masse garantis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4320" y="40050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74151"/>
                </a:solidFill>
              </a:rPr>
              <a:t>Le choix dépend du compromis performance/robustesse  —  pour un ascenseur avec charges variables : Pattern minimax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969264"/>
            <a:ext cx="73152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435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DD4"/>
                </a:solidFill>
              </a:rPr>
              <a:t>Ordre 6 → Ordre 4 par 3 simplifications justifiées  (Nalbant &amp; Sezer, 2019)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719072"/>
            <a:ext cx="73152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DD4"/>
                </a:solidFill>
              </a:rPr>
              <a:t>Retour d'état  :  K=[−11,97  720,56  ≈0  0,046]  ,  Kr=5,98×10⁻⁷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2468880"/>
            <a:ext cx="73152" cy="53035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Optim. ITAE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DD4"/>
                </a:solidFill>
              </a:rPr>
              <a:t>patternsearch MADS  :  ωn 1→7,44 rad/s ,  Tr ×7,4 ,  5 contraintes 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3218688"/>
            <a:ext cx="73152" cy="530352"/>
          </a:xfrm>
          <a:prstGeom prst="rect">
            <a:avLst/>
          </a:prstGeom>
          <a:solidFill>
            <a:srgbClr val="276221"/>
          </a:solidFill>
          <a:ln w="12700">
            <a:solidFill>
              <a:srgbClr val="2762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3236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6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4930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DD4"/>
                </a:solidFill>
              </a:rPr>
              <a:t>GA + minimax  :  ωn=4,57 converge pour les DEUX algos ,  ±20 % masse garanti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3968496"/>
            <a:ext cx="73152" cy="53035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3986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clé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24281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DD4"/>
                </a:solidFill>
              </a:rPr>
              <a:t>L'optimisation automatique surpasse le réglage manuel — sans calcul de gradient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" y="4773168"/>
            <a:ext cx="8412480" cy="274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7472" y="481888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BBA8"/>
                </a:solidFill>
              </a:rPr>
              <a:t>Master 1 EEA — Méthodes d'optimisation numériques — UPVD 2025–2026  |  Deghal  ·  Cholière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4151"/>
      </a:dk2>
      <a:lt2>
        <a:srgbClr val="E7E6E6"/>
      </a:lt2>
      <a:accent1>
        <a:srgbClr val="2D6A4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2B788"/>
      </a:accent5>
      <a:accent6>
        <a:srgbClr val="70AD47"/>
      </a:accent6>
      <a:hlink>
        <a:srgbClr val="1A5C3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1655</Words>
  <Application>Microsoft Office PowerPoint</Application>
  <PresentationFormat>Affichage à l'écran (16:9)</PresentationFormat>
  <Paragraphs>374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romain cho</cp:lastModifiedBy>
  <cp:revision>4</cp:revision>
  <dcterms:created xsi:type="dcterms:W3CDTF">2026-05-15T20:27:44Z</dcterms:created>
  <dcterms:modified xsi:type="dcterms:W3CDTF">2026-05-17T16:03:11Z</dcterms:modified>
</cp:coreProperties>
</file>